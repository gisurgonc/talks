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74"/>
    <p:restoredTop autoAdjust="0" sz="94694"/>
  </p:normalViewPr>
  <p:slideViewPr>
    <p:cSldViewPr snapToGrid="0" snapToObjects="1">
      <p:cViewPr varScale="1">
        <p:scale>
          <a:sx d="100" n="166"/>
          <a:sy d="100" n="166"/>
        </p:scale>
        <p:origin x="520" y="192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notesViewPr>
    <p:cSldViewPr showGuides="1" snapToGrid="0" snapToObjects="1">
      <p:cViewPr varScale="1">
        <p:scale>
          <a:sx d="100" n="97"/>
          <a:sy d="100" n="97"/>
        </p:scale>
        <p:origin x="4328" y="200"/>
      </p:cViewPr>
      <p:guideLst/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8" Type="http://schemas.openxmlformats.org/officeDocument/2006/relationships/presProps" Target="presProps.xml" /><Relationship Id="rId17" Type="http://schemas.openxmlformats.org/officeDocument/2006/relationships/handoutMaster" Target="handoutMasters/handoutMaster1.xml" /><Relationship Id="rId1" Type="http://schemas.openxmlformats.org/officeDocument/2006/relationships/slideMaster" Target="slideMasters/slideMaster1.xml" /><Relationship Id="rId21" Type="http://schemas.openxmlformats.org/officeDocument/2006/relationships/tableStyles" Target="tableStyles.xml" /><Relationship Id="rId20" Type="http://schemas.openxmlformats.org/officeDocument/2006/relationships/theme" Target="theme/theme1.xml" /><Relationship Id="rId1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10/2/24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GI Neuroendocrine Tumors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Gastric Neuroendocrine Tumors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5200"/>
                <a:gridCol w="2120900"/>
                <a:gridCol w="1295400"/>
                <a:gridCol w="1295400"/>
                <a:gridCol w="1295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Differentiation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Mitotic</a:t>
                      </a:r>
                      <a:br/>
                      <a:r>
                        <a:rPr/>
                        <a:t>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Ki-67</a:t>
                      </a:r>
                      <a:br/>
                      <a:r>
                        <a:rPr/>
                        <a:t>Index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NET - Grade 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Well-diff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&lt;3%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NET - Grade 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Well-diff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Intermed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2-20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3-20%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NET - Grade 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Well-diff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&gt;20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&gt;20%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NEC - Large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Poorly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&gt;20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&gt;20%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NEC - Small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Poorly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&gt;20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&gt;20%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MiNEN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Variable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Variable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Variable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Variable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Mixed Neuroendocrine - Nonneuroendocrine Neoplasms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Reference Here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Somatostatin Receptor (SSTR) PET for Staging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Frequently performed with </a:t>
            </a:r>
            <a:r>
              <a:rPr baseline="30000"/>
              <a:t>68</a:t>
            </a:r>
            <a:r>
              <a:rPr/>
              <a:t>Ga-DOTATATE Most useful for poorly-differentiated or high-grade tumors Less helpful for small tumors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Gastric Neuroendocrine Tumors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Type 1 Multifocal Tumors - Driven by atrophic gastritis (70–80% of gastric NETs):</a:t>
                </a:r>
              </a:p>
              <a:p>
                <a:pPr lvl="0"/>
                <a:r>
                  <a:rPr/>
                  <a:t>Atrophic gastritis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↓</m:t>
                    </m:r>
                  </m:oMath>
                </a14:m>
                <a:r>
                  <a:rPr/>
                  <a:t> gastric acid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↑</m:t>
                    </m:r>
                  </m:oMath>
                </a14:m>
                <a:r>
                  <a:rPr/>
                  <a:t>pH)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↑</m:t>
                    </m:r>
                  </m:oMath>
                </a14:m>
                <a:r>
                  <a:rPr/>
                  <a:t> gastrin from G cells</a:t>
                </a:r>
              </a:p>
              <a:p>
                <a:pPr lvl="0"/>
                <a:r>
                  <a:rPr/>
                  <a:t>Gastrin is trophic for enterchromaffin-like (ECL) cells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Neuroendocrine tumors</a:t>
                </a:r>
              </a:p>
              <a:p>
                <a:pPr lvl="0"/>
                <a:r>
                  <a:rPr/>
                  <a:t>Small (&lt;1 cm), multifocal, well-differentiated, indolent</a:t>
                </a:r>
              </a:p>
              <a:p>
                <a:pPr lvl="0" indent="0" marL="0">
                  <a:buNone/>
                </a:pPr>
                <a:r>
                  <a:rPr/>
                  <a:t>Type 2 Multifocal Tumors - Driven by Zollinger-Ellison Syndrome (rare)</a:t>
                </a:r>
              </a:p>
              <a:p>
                <a:pPr lvl="0"/>
                <a:r>
                  <a:rPr/>
                  <a:t>Gastrinoma produces high levels of gastrin and low gastric pH</a:t>
                </a:r>
              </a:p>
              <a:p>
                <a:pPr lvl="0"/>
                <a:r>
                  <a:rPr/>
                  <a:t>Generally have accompanying ulcer disease</a:t>
                </a:r>
              </a:p>
              <a:p>
                <a:pPr lvl="0" indent="0" marL="0">
                  <a:buNone/>
                </a:pPr>
                <a:r>
                  <a:rPr/>
                  <a:t>Type 3 Sporadic Tumors - Autonomous growth (normal pH and normal gastrin)</a:t>
                </a:r>
              </a:p>
              <a:p>
                <a:pPr lvl="0" indent="0" marL="0">
                  <a:buNone/>
                </a:pPr>
                <a:r>
                  <a:rPr/>
                  <a:t>Highest metastatic potential; most aggressive subtype</a:t>
                </a:r>
              </a:p>
            </p:txBody>
          </p:sp>
        </mc:Choice>
      </mc:AlternateContent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Gastric Neuroendocrine Tumors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Type 1 Multifocal Tumors - Driven by atrophic gastritis (70–80% of gastric NETs):</a:t>
                </a:r>
              </a:p>
              <a:p>
                <a:pPr lvl="0"/>
                <a:r>
                  <a:rPr/>
                  <a:t>Atrophic gastritis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↓</m:t>
                    </m:r>
                  </m:oMath>
                </a14:m>
                <a:r>
                  <a:rPr/>
                  <a:t> gastric acid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↑</m:t>
                    </m:r>
                  </m:oMath>
                </a14:m>
                <a:r>
                  <a:rPr/>
                  <a:t>pH)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↑</m:t>
                    </m:r>
                  </m:oMath>
                </a14:m>
                <a:r>
                  <a:rPr/>
                  <a:t> gastrin from G cells</a:t>
                </a:r>
              </a:p>
              <a:p>
                <a:pPr lvl="0"/>
                <a:r>
                  <a:rPr/>
                  <a:t>Gastrin is trophic for enterchromaffin-like (ECL) cells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Neuroendocrine tumors</a:t>
                </a:r>
              </a:p>
              <a:p>
                <a:pPr lvl="0"/>
                <a:r>
                  <a:rPr/>
                  <a:t>Small (&lt;1 cm), multifocal, well-differentiated, indolent</a:t>
                </a:r>
              </a:p>
              <a:p>
                <a:pPr lvl="0"/>
                <a:r>
                  <a:rPr/>
                  <a:t>Small tumors &lt;1cm: Endoscopic resection</a:t>
                </a:r>
              </a:p>
              <a:p>
                <a:pPr lvl="0"/>
                <a:r>
                  <a:rPr/>
                  <a:t>Tumors 1-2cm: Endoscopic mucosal resection (EMR) or Endoscopic Submucosal Disssection (ESD)</a:t>
                </a:r>
              </a:p>
              <a:p>
                <a:pPr lvl="0"/>
                <a:r>
                  <a:rPr/>
                  <a:t>High risk tumors (&gt;2cm, Node</a:t>
                </a:r>
                <a:r>
                  <a:rPr baseline="30000"/>
                  <a:t>+</a:t>
                </a:r>
                <a:r>
                  <a:rPr/>
                  <a:t>, Grade 3, muscle invasion): Surgical resection</a:t>
                </a:r>
              </a:p>
            </p:txBody>
          </p:sp>
        </mc:Choice>
      </mc:AlternateContent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Gastric Neuroendocrine Tumors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Type 2 Multifocal Tumors - Driven by Zollinger-Ellison Syndrome (rare)</a:t>
            </a:r>
          </a:p>
          <a:p>
            <a:pPr lvl="0"/>
            <a:r>
              <a:rPr/>
              <a:t>Gastrinoma produces high levels of gastrin and low gastric pH</a:t>
            </a:r>
          </a:p>
          <a:p>
            <a:pPr lvl="0"/>
            <a:r>
              <a:rPr/>
              <a:t>Generally have accompanying ulcer disease</a:t>
            </a:r>
          </a:p>
          <a:p>
            <a:pPr lvl="0"/>
            <a:r>
              <a:rPr/>
              <a:t>Localization of gastrinoma (and resection) critical to treatment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Gastric Neuroendocrine Tumors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Type 3 Sporadic Tumors - Autonomous growth (normal pH and normal gastrin)</a:t>
            </a:r>
          </a:p>
          <a:p>
            <a:pPr lvl="0" indent="0" marL="0">
              <a:buNone/>
            </a:pPr>
            <a:r>
              <a:rPr/>
              <a:t>Highest metastatic potential; most aggressive subtype</a:t>
            </a:r>
          </a:p>
          <a:p>
            <a:pPr lvl="0"/>
            <a:r>
              <a:rPr/>
              <a:t>Small tumors &lt;1cm: Endoscopic resection</a:t>
            </a:r>
          </a:p>
          <a:p>
            <a:pPr lvl="0"/>
            <a:r>
              <a:rPr/>
              <a:t>High risk tumors: Surgical resection with node dissection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Mixed Neuroendocrine / Nonneuroendocrine Neoplasms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Tumors showing neuroendocrine </a:t>
            </a:r>
            <a:r>
              <a:rPr i="1"/>
              <a:t>and</a:t>
            </a:r>
            <a:r>
              <a:rPr/>
              <a:t> nonneuroendocrine differentiation</a:t>
            </a:r>
          </a:p>
          <a:p>
            <a:pPr lvl="0"/>
            <a:r>
              <a:rPr/>
              <a:t>Tend to be aggressive with liver and nodal metastasis</a:t>
            </a:r>
          </a:p>
          <a:p>
            <a:pPr lvl="0"/>
            <a:r>
              <a:rPr/>
              <a:t>Origin from a single stem cell that then gives rise to two differentaition paths</a:t>
            </a:r>
          </a:p>
          <a:p>
            <a:pPr lvl="0"/>
            <a:r>
              <a:rPr/>
              <a:t>Small tumors treated with surgery</a:t>
            </a:r>
          </a:p>
          <a:p>
            <a:pPr lvl="0"/>
            <a:r>
              <a:rPr/>
              <a:t>Larger tumors treated with chemotherapy</a:t>
            </a:r>
          </a:p>
          <a:p>
            <a:pPr lvl="0"/>
            <a:r>
              <a:rPr/>
              <a:t>Also known as Mixed Adenoneuroendocrine Carcinoma (MANEC)</a:t>
            </a:r>
          </a:p>
          <a:p>
            <a:pPr lvl="0" indent="0" marL="0">
              <a:buNone/>
            </a:pPr>
            <a:r>
              <a:rPr/>
              <a:t>(</a:t>
            </a:r>
            <a:r>
              <a:rPr b="1"/>
              <a:t>jacob721?</a:t>
            </a:r>
            <a:r>
              <a:rPr/>
              <a:t>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Lutathera Lu</a:t>
            </a:r>
            <a:r>
              <a:rPr baseline="30000"/>
              <a:t>177</a:t>
            </a:r>
            <a:r>
              <a:rPr/>
              <a:t>-dotatate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Radioactive-tagged dotatate (artificial somatostatin analogue)</a:t>
            </a:r>
          </a:p>
          <a:p>
            <a:pPr lvl="0"/>
            <a:r>
              <a:rPr/>
              <a:t>Indicated for treatment of somatostatin recpetor (SSTR)-positive tumors</a:t>
            </a:r>
          </a:p>
          <a:p>
            <a:pPr lvl="0"/>
            <a:r>
              <a:rPr/>
              <a:t>Gastroenterohepatic neuroendocrine tumors of foregut, midgut, and hindgut</a:t>
            </a:r>
          </a:p>
          <a:p>
            <a:pPr lvl="0"/>
            <a:r>
              <a:rPr/>
              <a:t>Dosed IV every 8 weeks x 4 doses, folloed by long-acting octreoride every 4 weeks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NETTER-1 clinical trial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Eligibility criteria:</a:t>
            </a:r>
          </a:p>
          <a:p>
            <a:pPr lvl="0"/>
            <a:r>
              <a:rPr/>
              <a:t>Neuroendocrine tumors</a:t>
            </a:r>
          </a:p>
          <a:p>
            <a:pPr lvl="0"/>
            <a:r>
              <a:rPr/>
              <a:t>Ki-67 index $$20%</a:t>
            </a:r>
          </a:p>
          <a:p>
            <a:pPr lvl="0"/>
            <a:r>
              <a:rPr/>
              <a:t>OctreoScan positive in all lesions</a:t>
            </a:r>
          </a:p>
          <a:p>
            <a:pPr lvl="0"/>
            <a:r>
              <a:rPr/>
              <a:t>Disease progression on standard-dose octroetide</a:t>
            </a:r>
          </a:p>
          <a:p>
            <a:pPr lvl="0" indent="0" marL="0">
              <a:buNone/>
            </a:pPr>
            <a:r>
              <a:rPr/>
              <a:t>Randomized:</a:t>
            </a:r>
          </a:p>
          <a:p>
            <a:pPr lvl="0"/>
            <a:r>
              <a:rPr baseline="30000"/>
              <a:t>177</a:t>
            </a:r>
            <a:r>
              <a:rPr/>
              <a:t>Lu-dotatate q8 weeks x4 + octreotide LAR 30mg IM OR</a:t>
            </a:r>
          </a:p>
          <a:p>
            <a:pPr lvl="0"/>
            <a:r>
              <a:rPr/>
              <a:t>Octreotide LAR 60mg IM every4 weeks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aseline="30000"/>
                        <a:t>177</a:t>
                      </a:r>
                      <a:r>
                        <a:rPr/>
                        <a:t>Lu-dotatate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Control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Progression-free survival @ 20mo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Median PFS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(not reached)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8.4mo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Objective Response Rate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Overall Survival Median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48mo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33mo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</a:tbl>
          </a:graphicData>
        </a:graphic>
      </p:graphicFrame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Survival difference was likely diluted by crossovers at progression</a:t>
            </a:r>
          </a:p>
          <a:p>
            <a:pPr lvl="0" indent="0" marL="0">
              <a:buNone/>
            </a:pPr>
            <a:r>
              <a:rPr/>
              <a:t>More pronounced survival benefit for patients with KPS 60-80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NETTER-1</a:t>
            </a:r>
          </a:p>
        </p:txBody>
      </p:sp>
      <p:pic>
        <p:nvPicPr>
          <p:cNvPr descr="images/netter1_nej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24000" y="1193800"/>
            <a:ext cx="6096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Lutathera indications for GI/Pancreatic tumors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Well differentiated (Grade 1/2) tumors</a:t>
            </a:r>
          </a:p>
          <a:p>
            <a:pPr lvl="1"/>
            <a:r>
              <a:rPr/>
              <a:t>Progression on octreodide LAR or lanreotide</a:t>
            </a:r>
          </a:p>
          <a:p>
            <a:pPr lvl="1"/>
            <a:r>
              <a:rPr/>
              <a:t>Significant tumor burden and Ki-67 index $$10% (first line)</a:t>
            </a:r>
          </a:p>
          <a:p>
            <a:pPr lvl="0"/>
            <a:r>
              <a:rPr/>
              <a:t>Well differentiated Grade 3 tumors</a:t>
            </a:r>
          </a:p>
          <a:p>
            <a:pPr lvl="1"/>
            <a:r>
              <a:rPr/>
              <a:t>Favorable biology (Ki-67 10%-55%) - supported by NETTER-2 clinical trial</a:t>
            </a:r>
          </a:p>
          <a:p>
            <a:pPr lvl="0" indent="0" marL="0">
              <a:buNone/>
            </a:pPr>
            <a:r>
              <a:rPr/>
              <a:t>Impact of Liver Tumour Burden, Alkaline Phosphatase Elevation, and Target Lesion Size on Treatment Outcomes With Lu-Dotatate: An Analysis of the NETTER-1 Study. European Journal of Nuclear Medicine and Molecular Imaging. 2020. Strosberg J, Kunz PL, Hendifar A, et al.’</a:t>
            </a:r>
          </a:p>
          <a:p>
            <a:pPr lvl="0" indent="0" marL="0">
              <a:buNone/>
            </a:pPr>
            <a:r>
              <a:rPr/>
              <a:t>Cost-Effectiveness of [177Lu]Lu-Dotatate for the Treatment of Newly Diagnosed Advanced Gastroenteropancreatic Neuroendocrine Tumors: An Analysis Based on Results of the NETTER-2 Trial. Journal of Nuclear Medicine : Official Publication, Society of Nuclear Medicine. 2025. Holzgreve A, Unterrainer LM, Tiling M, et al.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Netter-2 Trial - Grade 2/3 Neuroendocrine tumors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226 Patients with higher grade 2 (Ki67 ≥10% and ≤20%) and grade 3 (Ki67 &gt;20% and ≤55%), somatostatin receptor-positive gastroenteropancreatic neuroendocrine tumours</a:t>
                </a:r>
              </a:p>
              <a:p>
                <a:pPr lvl="0" indent="0" marL="0">
                  <a:buNone/>
                </a:pPr>
                <a:r>
                  <a:rPr/>
                  <a:t>Treated with 4 cycles of Lutathera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Octreotide 30mg IM q4 wk</a:t>
                </a:r>
              </a:p>
              <a:p>
                <a:pPr lvl="0" indent="0" marL="0">
                  <a:buNone/>
                </a:pPr>
                <a:r>
                  <a:rPr/>
                  <a:t>vs</a:t>
                </a:r>
              </a:p>
              <a:p>
                <a:pPr lvl="0" indent="0" marL="0">
                  <a:buNone/>
                </a:pPr>
                <a:r>
                  <a:rPr/>
                  <a:t>Octreotide 60mg IM q4wk</a:t>
                </a:r>
              </a:p>
              <a:p>
                <a:pPr lvl="0" indent="0" marL="0">
                  <a:buNone/>
                </a:pPr>
                <a:r>
                  <a:rPr/>
                  <a:t>Progression-free survival with Lutathera was 22.8mo (vs 8.5mo)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⇒</m:t>
                    </m:r>
                  </m:oMath>
                </a14:m>
                <a:r>
                  <a:rPr/>
                  <a:t> Lutathera is indicated for first-line therapy of higer grade neuroendocrine tumors</a:t>
                </a:r>
              </a:p>
              <a:p>
                <a:pPr lvl="0" indent="0" marL="0">
                  <a:buNone/>
                </a:pPr>
                <a:r>
                  <a:rPr/>
                  <a:t>(</a:t>
                </a:r>
                <a:r>
                  <a:rPr b="1"/>
                  <a:t>singh2807?</a:t>
                </a:r>
                <a:r>
                  <a:rPr/>
                  <a:t>)</a:t>
                </a:r>
              </a:p>
            </p:txBody>
          </p:sp>
        </mc:Choice>
      </mc:AlternateContent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 Neuroendocrine Tumors</dc:title>
  <dc:creator/>
  <cp:keywords/>
  <dcterms:created xsi:type="dcterms:W3CDTF">2026-10-14T11:03:02Z</dcterms:created>
  <dcterms:modified xsi:type="dcterms:W3CDTF">2026-10-14T11:03:02Z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bibliography">
    <vt:lpwstr>zotero.bib</vt:lpwstr>
  </property>
  <property fmtid="{D5CDD505-2E9C-101B-9397-08002B2CF9AE}" pid="4" name="editor">
    <vt:lpwstr>visual</vt:lpwstr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toc-title">
    <vt:lpwstr>Table of contents</vt:lpwstr>
  </property>
</Properties>
</file>