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notesViewPr>
    <p:cSldViewPr showGuides="1" snapToGrid="0" snapToObjects="1">
      <p:cViewPr varScale="1">
        <p:scale>
          <a:sx d="100" n="97"/>
          <a:sy d="100" n="97"/>
        </p:scale>
        <p:origin x="4328" y="20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presProps" Target="presProps.xml" /><Relationship Id="rId19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Relationship Id="rId21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/rare-disease/serrated-polyposis-syndrome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Colon Cancer Screening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Epidemiology of Colorectal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3rd most commonly diagnosed cancer and the 2nd leading cause of cancer death in the US</a:t>
            </a:r>
          </a:p>
          <a:p>
            <a:pPr lvl="0"/>
            <a:r>
              <a:rPr/>
              <a:t>Estimated ~154,270 new diagnoses and ~52,900 deaths in 2025</a:t>
            </a:r>
          </a:p>
          <a:p>
            <a:pPr lvl="0"/>
            <a:r>
              <a:rPr/>
              <a:t>Incidence 33% higher in men (41.5 per 100,000) than women (31.2 per 100,000)</a:t>
            </a:r>
          </a:p>
          <a:p>
            <a:pPr lvl="0"/>
            <a:r>
              <a:rPr/>
              <a:t>Overall incidence declined 0.9% annually (2013–2022), driven by decreases in adults ≥65 years</a:t>
            </a:r>
          </a:p>
          <a:p>
            <a:pPr lvl="0"/>
            <a:r>
              <a:rPr/>
              <a:t>Lifetime risk of CRC in the US: approximately 4%–5%</a:t>
            </a:r>
          </a:p>
          <a:p>
            <a:pPr lvl="0" indent="0" marL="0">
              <a:buNone/>
            </a:pPr>
            <a:r>
              <a:rPr/>
              <a:t>(</a:t>
            </a:r>
            <a:r>
              <a:rPr b="1"/>
              <a:t>siegele70067?</a:t>
            </a:r>
            <a:r>
              <a:rPr/>
              <a:t>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Early-onset Colorectal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Incidence increasing ~2%–3% annually in adults aged 20–49 years</a:t>
            </a:r>
          </a:p>
          <a:p>
            <a:pPr lvl="0"/>
            <a:r>
              <a:rPr/>
              <a:t>CRC is now the leading cause of cancer death in men 50 years</a:t>
            </a:r>
          </a:p>
          <a:p>
            <a:pPr lvl="0"/>
            <a:r>
              <a:rPr/>
              <a:t>20% (1 in 5) of CRCs in 2019 were in patients ≤54 years, up from 11% (1 in 10) in 1995</a:t>
            </a:r>
          </a:p>
          <a:p>
            <a:pPr lvl="0" indent="0" marL="0">
              <a:buNone/>
            </a:pPr>
            <a:r>
              <a:rPr/>
              <a:t>(</a:t>
            </a:r>
            <a:r>
              <a:rPr b="1"/>
              <a:t>jayakrishnan1373?</a:t>
            </a:r>
            <a:r>
              <a:rPr/>
              <a:t>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Non-modifiable Risk Factors for Colorectal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Age (incidence rises sharply after age 50)</a:t>
            </a:r>
          </a:p>
          <a:p>
            <a:pPr lvl="0"/>
            <a:r>
              <a:rPr/>
              <a:t>Male sex</a:t>
            </a:r>
          </a:p>
          <a:p>
            <a:pPr lvl="0"/>
            <a:r>
              <a:rPr/>
              <a:t>Race/ethnicity (highest in Alaska Native, American Indian, Black populations)</a:t>
            </a:r>
          </a:p>
          <a:p>
            <a:pPr lvl="0"/>
            <a:r>
              <a:rPr/>
              <a:t>Family history of CRC or advanced adenomas in first-degree relatives</a:t>
            </a:r>
          </a:p>
          <a:p>
            <a:pPr lvl="0"/>
            <a:r>
              <a:rPr/>
              <a:t>Personal history of adenomas, SSP/SSLs, or IBD</a:t>
            </a:r>
          </a:p>
          <a:p>
            <a:pPr lvl="0"/>
            <a:r>
              <a:rPr/>
              <a:t>Hereditary syndromes</a:t>
            </a:r>
          </a:p>
          <a:p>
            <a:pPr lvl="1"/>
            <a:r>
              <a:rPr/>
              <a:t>Lynch Syndrome</a:t>
            </a:r>
          </a:p>
          <a:p>
            <a:pPr lvl="1"/>
            <a:r>
              <a:rPr/>
              <a:t>Familial Adenomatous Polyposis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Modifiable Risk Factors for Colorectal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Obesity and excess body weight</a:t>
            </a:r>
          </a:p>
          <a:p>
            <a:pPr lvl="0"/>
            <a:r>
              <a:rPr/>
              <a:t>Physical inactivity</a:t>
            </a:r>
          </a:p>
          <a:p>
            <a:pPr lvl="0"/>
            <a:r>
              <a:rPr/>
              <a:t>Tobacco smoking</a:t>
            </a:r>
          </a:p>
          <a:p>
            <a:pPr lvl="0"/>
            <a:r>
              <a:rPr/>
              <a:t>High alcohol consumption</a:t>
            </a:r>
          </a:p>
          <a:p>
            <a:pPr lvl="0"/>
            <a:r>
              <a:rPr/>
              <a:t>Diet high in red/processed meat, low in fruits/vegetables/fiber</a:t>
            </a:r>
          </a:p>
          <a:p>
            <a:pPr lvl="0"/>
            <a:r>
              <a:rPr/>
              <a:t>Over 50% of CRC cases are attributable to modifiable lifestyle factors[9][10]</a:t>
            </a:r>
          </a:p>
          <a:p>
            <a:pPr lvl="0" indent="0" marL="0">
              <a:buNone/>
            </a:pPr>
            <a:r>
              <a:rPr/>
              <a:t>Screening for Colorectal Cancer: US Preventive Services Task Force Recommendation Statement. US Preventive Services Task Force, Davidson KW, Barry MJ, et al. JAMA. 2021;325(19):1965-1977. doi:10.1001/jama.2021.6238. Colorectal Cancer Screening for Average-Risk Adults: 2018 Guideline Update From the American Cancer Society. Wolf AMD, Fontham ETH, Church TR, et al. CA: A Cancer Journal for Clinicians. 2018;68(4):250-281. doi:10.3322/caac.21457.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Adenoma-Carcinoma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CRCs develop over 10–15 years from precursor polyps through a stepwise accumulation of genetic and epigenetic alterations[11][12] Two Major Pathways:</a:t>
            </a:r>
          </a:p>
          <a:p>
            <a:pPr lvl="0" indent="-342900" marL="342900">
              <a:buAutoNum type="arabicPeriod"/>
            </a:pPr>
            <a:r>
              <a:rPr/>
              <a:t>Conventional Adenoma-Carcinoma Pathway (70%–90% of CRCs)[3][12] - Initiated by APC gene mutation → KRAS activation → TP53 inactivation - Characterized by chromosomal instability (CIN) - Produces microsatellite-stable tumors</a:t>
            </a:r>
          </a:p>
          <a:p>
            <a:pPr lvl="0" indent="-342900" marL="342900">
              <a:buAutoNum type="arabicPeriod"/>
            </a:pPr>
            <a:r>
              <a:rPr/>
              <a:t>Serrated Neoplasia Pathway (10%–20% of CRCs)[12][13] - Arises from sessile serrated lesions (SSLs) - Driven by BRAF mutations and CpG island methylator phenotype (CIMP) - Often leads to microsatellite instability (MSI-H) via MLH1 promoter methylation - Predominates in proximal colon, elderly, female patients[11] Clinical Implication: The prolonged adenoma-to-carcinoma timeline provides a window for screening to detect and remove precancerous lesions before malignant transformation[6][14]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 Stratification: Average vs. Increased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Average Risk (per NCCN) — ALL of the following:[8] - Age 45–75 years - No personal history of adenomas, serrated sessile lesions (SSL), CRC, IBD, cystic fibrosis, or childhood cancer - No hereditary CRC syndromes - No family history of CRC or advanced adenomas in first-degree relatives Increased Risk — ANY of the following:[8] - Personal history of adenomas or SSP/SSLs - Personal history of CRC or IBD - Hereditary syndromes (Lynch, FAP, etc.) - ≥1 first-degree relative with CRC or advanced adenoma - Personal history of cystic fibrosis or childhood cancer Key Principle: Average-risk individuals may choose any recommended screening modality. Increased-risk individuals should undergo colonoscopy as the preferred method[8]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to Start and Stop Screening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 to Begin Screening (Average Risk): - USPSTF: Age 45 (Grade B for 45–49; Grade A for 50–75)[9] - ACS: Age 45[10][15] - NCCN: Age 45 (data stronger for age 50, but lower-level evidence supports 45)[8] - ACG: Age 45 (conditional); age 50 (strong recommendation)[13][16] Rationale for Lowering to Age 45: - Rising early-onset CRC incidence[7] - Modeling: 22–27 additional life-years gained per 1,000 individuals screened starting at 45 vs. 50[7] When to Stop: - Screening recommended through age 75[8][9] - Ages 76–85: Individualize based on comorbidities, life expectancy, and prior screening history[8] - Requires estimated life expectancy ≥10 years[8]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Screening Modalities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Stool-Based Tests (Two-Step: positive result → colonoscopy):</a:t>
            </a:r>
          </a:p>
          <a:p>
            <a:pPr lvl="0"/>
            <a:r>
              <a:rPr/>
              <a:t>Guaiac-based FOBT (gFOBT) — annually</a:t>
            </a:r>
          </a:p>
          <a:p>
            <a:pPr lvl="0"/>
            <a:r>
              <a:rPr/>
              <a:t>Fecal immunochemical test (FIT) — annually</a:t>
            </a:r>
          </a:p>
          <a:p>
            <a:pPr lvl="0"/>
            <a:r>
              <a:rPr/>
              <a:t>Multi-target stool DNA (mt-sDNA, e.g., Cologuard) — every 3 years</a:t>
            </a:r>
          </a:p>
          <a:p>
            <a:pPr lvl="0"/>
            <a:r>
              <a:rPr/>
              <a:t>Multi-target stool RNA (mt-sRNA) — every 3 years[8]</a:t>
            </a:r>
          </a:p>
          <a:p>
            <a:pPr lvl="0" indent="0" marL="0">
              <a:buNone/>
            </a:pPr>
            <a:r>
              <a:rPr/>
              <a:t>Direct Visualization Tests:</a:t>
            </a:r>
          </a:p>
          <a:p>
            <a:pPr lvl="0"/>
            <a:r>
              <a:rPr/>
              <a:t>Colonoscopy — every 10 years</a:t>
            </a:r>
          </a:p>
          <a:p>
            <a:pPr lvl="0"/>
            <a:r>
              <a:rPr/>
              <a:t>Flexible sigmoidoscopy — every 5 years (± annual FIT)</a:t>
            </a:r>
          </a:p>
          <a:p>
            <a:pPr lvl="0"/>
            <a:r>
              <a:rPr/>
              <a:t>CT colonography — every 5 years[8][9]</a:t>
            </a:r>
          </a:p>
          <a:p>
            <a:pPr lvl="0" indent="0" marL="0">
              <a:buNone/>
            </a:pPr>
            <a:r>
              <a:rPr/>
              <a:t>Key Points:</a:t>
            </a:r>
          </a:p>
          <a:p>
            <a:pPr lvl="0"/>
            <a:r>
              <a:rPr/>
              <a:t>Colonoscopy is the only one-step modality (diagnostic + therapeutic)[17]</a:t>
            </a:r>
          </a:p>
          <a:p>
            <a:pPr lvl="0"/>
            <a:r>
              <a:rPr/>
              <a:t>FIT has replaced gFOBT in most settings due to superior sensitivity, no dietary restrictions, and single-sample convenience[5][8]</a:t>
            </a:r>
          </a:p>
          <a:p>
            <a:pPr lvl="0"/>
            <a:r>
              <a:rPr/>
              <a:t>All positive stool-based tests require follow-up colonoscopy as soon as possible and no later than 9 months[8]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Comparative Performance of Screening Tests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892300"/>
                <a:gridCol w="2336800"/>
                <a:gridCol w="1447800"/>
                <a:gridCol w="1117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CRC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Adenoma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Interval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Colonoscopy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75-95% (&gt;6mm)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yrs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23-25%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Cologuard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years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FOBT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50-75%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6-21%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96-98%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FIT has replaced guaiac-based Fecal Occult Blood (FOBT)</a:t>
            </a:r>
          </a:p>
          <a:p>
            <a:pPr lvl="0" indent="0" marL="0">
              <a:buNone/>
            </a:pPr>
            <a:r>
              <a:rPr/>
              <a:t>Data from NCCN Colorectal Cancer Screening Guidelines (v2.2026)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Comparative Performance of Screening Tests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 — The NordICC Randomized Trial of Screening Colonoscopy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84,585 participants aged 55–64 in Poland, Norway, Sweden</a:t>
            </a:r>
          </a:p>
          <a:p>
            <a:pPr lvl="0"/>
            <a:r>
              <a:rPr/>
              <a:t>Randomized 1:2 to invitation for colonoscopy vs. usual care</a:t>
            </a:r>
          </a:p>
          <a:p>
            <a:pPr lvl="0"/>
            <a:r>
              <a:rPr/>
              <a:t>Only 42% of invited participants underwent colonoscopy</a:t>
            </a:r>
          </a:p>
          <a:p>
            <a:pPr lvl="0" indent="0" marL="0">
              <a:buNone/>
            </a:pPr>
            <a:r>
              <a:rPr/>
              <a:t>10-year results (intention to screen):</a:t>
            </a:r>
          </a:p>
          <a:p>
            <a:pPr lvl="0"/>
            <a:r>
              <a:rPr/>
              <a:t>CRC incidence: 0.98% vs. 1.20% (RR 0.82; 95% CI 0.70–0.93)</a:t>
            </a:r>
          </a:p>
          <a:p>
            <a:pPr lvl="0"/>
            <a:r>
              <a:rPr/>
              <a:t>CRC mortality: 0.28% vs. 0.31% (RR 0.90; 95% CI 0.64–1.16) — not significant</a:t>
            </a:r>
          </a:p>
          <a:p>
            <a:pPr lvl="0"/>
            <a:r>
              <a:rPr/>
              <a:t>NNI (number needed to invite) to prevent 1 CRC case: 45</a:t>
            </a:r>
          </a:p>
          <a:p>
            <a:pPr lvl="0" indent="-342900" marL="342900">
              <a:buAutoNum startAt="16" type="arabicPeriod"/>
            </a:pPr>
            <a:r>
              <a:rPr/>
              <a:t>Effect of Colonoscopy Screening on Risks of Colorectal Cancer and Related Death. Bretthauer M, Løberg M, Wieszczy P, et al. The New England Journal of Medicine. 2022;387(17):1547-1556. doi:10.1056/NEJMoa2208375.</a:t>
            </a:r>
          </a:p>
          <a:p>
            <a:pPr lvl="0" indent="-342900" marL="342900">
              <a:buAutoNum startAt="16" type="arabicPeriod"/>
            </a:pPr>
            <a:r>
              <a:rPr/>
              <a:t>Long-Term Effects of Colonoscopy Screening on Colorectal Cancer Incidence and Mortality: A Multicountry, Population-Based Randomised Controlled Trial. Kaminski MF, Kalager M, Løberg M, et al. Lancet (London, England). 2026;:S0140-6736(26)00508-8. doi:10.1016/S0140-6736(26)00508-8.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 — The NordICC Randomized Trial of Screening Colonoscopy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84,585 participants aged 55–64 in Poland, Norway, Sweden</a:t>
            </a:r>
          </a:p>
          <a:p>
            <a:pPr lvl="0"/>
            <a:r>
              <a:rPr/>
              <a:t>Randomized 1:2 to invitation for colonoscopy vs. usual care</a:t>
            </a:r>
          </a:p>
          <a:p>
            <a:pPr lvl="0"/>
            <a:r>
              <a:rPr/>
              <a:t>Only 42% of invited participants underwent colonoscopy</a:t>
            </a:r>
          </a:p>
          <a:p>
            <a:pPr lvl="0" indent="0" marL="0">
              <a:buNone/>
            </a:pPr>
            <a:r>
              <a:rPr/>
              <a:t>Per-Protocol Analysis (those actually screened):</a:t>
            </a:r>
          </a:p>
          <a:p>
            <a:pPr lvl="0"/>
            <a:r>
              <a:rPr/>
              <a:t>CRC incidence reduced by 31%–41%</a:t>
            </a:r>
          </a:p>
          <a:p>
            <a:pPr lvl="0"/>
            <a:r>
              <a:rPr/>
              <a:t>CRC mortality reduced by up to 50%</a:t>
            </a:r>
          </a:p>
          <a:p>
            <a:pPr lvl="0" indent="-342900" marL="342900">
              <a:buAutoNum startAt="16" type="arabicPeriod"/>
            </a:pPr>
            <a:r>
              <a:rPr/>
              <a:t>Effect of Colonoscopy Screening on Risks of Colorectal Cancer and Related Death. Bretthauer M, Løberg M, Wieszczy P, et al. The New England Journal of Medicine. 2022;387(17):1547-1556. doi:10.1056/NEJMoa2208375.</a:t>
            </a:r>
          </a:p>
          <a:p>
            <a:pPr lvl="0" indent="-342900" marL="342900">
              <a:buAutoNum startAt="16" type="arabicPeriod"/>
            </a:pPr>
            <a:r>
              <a:rPr/>
              <a:t>Long-Term Effects of Colonoscopy Screening on Colorectal Cancer Incidence and Mortality: A Multicountry, Population-Based Randomised Controlled Trial. Kaminski MF, Kalager M, Løberg M, et al. Lancet (London, England). 2026;:S0140-6736(26)00508-8. doi:10.1016/S0140-6736(26)00508-8.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 — Increased-Risk Screening: Family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 NCCN Guidelines:[8] Family History Start Screening Modality Surveillance ≥1 FDR with CRC at any age Age 40 or 10 years before earliest CRC diagnosis (whichever first) Colonoscopy Every 5 years 2nd/3rd-degree relatives with CRC Age 45 Colonoscopy Every 10 years FDR with advanced adenoma or advanced SSP/SSL Age 40 or age of onset in relative (whichever first) Colonoscopy Every 5–10 years FDR = first-degree relative Important: If criteria for a hereditary cancer syndrome are met (e.g., Lynch, FAP), refer for genetic evaluation and follow syndrome-specific guidelines[8]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 — Post-Polypectomy Surveillance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Surveillance intervals assume complete resection, adequate bowel preparation, and complete examination[8] General Principles:</a:t>
            </a:r>
          </a:p>
          <a:p>
            <a:pPr lvl="0"/>
            <a:r>
              <a:rPr/>
              <a:t>Low-risk adenomas or SSP/SSLs: May not have substantially increased risk of metachronous advanced neoplasia compared to general population</a:t>
            </a:r>
          </a:p>
          <a:p>
            <a:pPr lvl="0"/>
            <a:r>
              <a:rPr/>
              <a:t>High-risk adenomas or SSP/SSLs with dysplasia: Surveillance interval should not exceed 5 years</a:t>
            </a:r>
          </a:p>
          <a:p>
            <a:pPr lvl="0"/>
            <a:r>
              <a:rPr/>
              <a:t>≥10 cumulative adenomas: Consider germline testing for polyposis syndromes</a:t>
            </a:r>
          </a:p>
          <a:p>
            <a:pPr lvl="0" indent="0" marL="1270000"/>
            <a:r>
              <a:rPr sz="2000"/>
              <a:t>20 serrated polyps: Consider </a:t>
            </a:r>
            <a:r>
              <a:rPr sz="2000">
                <a:hlinkClick r:id="rId2"/>
              </a:rPr>
              <a:t>serrated polyposis syndrome</a:t>
            </a:r>
            <a:r>
              <a:rPr sz="2000"/>
              <a:t>[8]</a:t>
            </a:r>
          </a:p>
          <a:p>
            <a:pPr lvl="0" indent="0" marL="0">
              <a:buNone/>
            </a:pPr>
            <a:r>
              <a:rPr/>
              <a:t>Histologic Considerations:</a:t>
            </a:r>
          </a:p>
          <a:p>
            <a:pPr lvl="0"/>
            <a:r>
              <a:rPr/>
              <a:t>SSP/SSLs without dysplasia are managed like tubular adenomas[8]</a:t>
            </a:r>
          </a:p>
          <a:p>
            <a:pPr lvl="0"/>
            <a:r>
              <a:rPr/>
              <a:t>SSP/SSLs with dysplasia are managed like high-risk adenomas[8]</a:t>
            </a:r>
          </a:p>
          <a:p>
            <a:pPr lvl="0"/>
            <a:r>
              <a:rPr/>
              <a:t>Large (≥1 cm) hyperplastic polyps are often reclassified as SSLs on expert review[8]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 — Special Populations Inflammatory Bowel Disease (IBD):[8] - Ulcerative colitis and Crohn’s colitis confer increased CRC risk - Colonoscopy is the preferred screening method - Follow IBD-specific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 1. Colorectal Cancer Statistics, 2026. Siegel RL, Wagle NS, Star J, et al. CA: A Cancer Journal for Clinicians. 2026 Mar-Apr;76(2):e70067. doi:10.3322/caac.70067. 2. Colorectal Cancer Statistics, 2023. Siegel RL, Wagle NS, Cercek A, Smith RA, Jemal A. CA: A Cancer Journal for Clinicians. 2023 May-Jun;73(3):233-254. doi:10.3322/caac.21772. 3. Aspirin and Other Nonsteroidal Anti-Inflammatory Drugs (NSAIDs) for Preventing Colorectal Cancer and Colorectal Adenoma in the General Population. Cai Z, Meng Y, Yang W, et al. The Cochrane Database of Systematic Reviews. 2026;4:CD015266. doi:10.1002/14651858.CD015266.pub3. 4. Colorectal Cancer Facts &amp; Figures. Angela Giaquinto, Tyler Kratzer, Adair Minihan, et al. American Cancer Society (2025).</a:t>
            </a:r>
          </a:p>
          <a:p>
            <a:pPr lvl="0" indent="-342900" marL="342900">
              <a:buAutoNum startAt="5" type="arabicPeriod"/>
            </a:pPr>
            <a:r>
              <a:rPr/>
              <a:t>AGA Clinical Practice Update on Approach to the Use of Noninvasive Colorectal Cancer Screening Options: Commentary. Burke CA, Lieberman D, Feuerstein JD. Gastroenterology. 2022;162(3):952-956. doi:10.1053/j.gastro.2021.09.075. 6. Colorectal Adenomas. Strum WB. The New England Journal of Medicine. 2016;374(11):1065-75. doi:10.1056/NEJMra1513581.</a:t>
            </a:r>
          </a:p>
          <a:p>
            <a:pPr lvl="0" indent="-342900" marL="342900">
              <a:buAutoNum startAt="5" type="arabicPeriod"/>
            </a:pPr>
            <a:r>
              <a:rPr/>
              <a:t>Early-Onset Gastrointestinal Cancers. Jayakrishnan T, Ng K. JAMA. 2025;334(15):1373-1385. doi:10.1001/jama.2025.10218.</a:t>
            </a:r>
          </a:p>
          <a:p>
            <a:pPr lvl="0" indent="-342900" marL="342900">
              <a:buAutoNum startAt="5" type="arabicPeriod"/>
            </a:pPr>
            <a:r>
              <a:rPr/>
              <a:t>Colorectal Cancer Screening. National Comprehensive Cancer Network. Updated 2026-04-23.</a:t>
            </a:r>
          </a:p>
          <a:p>
            <a:pPr lvl="0" indent="-342900" marL="342900">
              <a:buAutoNum startAt="5" type="arabicPeriod"/>
            </a:pPr>
            <a:r>
              <a:rPr/>
              <a:t>Screening for Colorectal Cancer: US Preventive Services Task Force Recommendation Statement. US Preventive Services Task Force, Davidson KW, Barry MJ, et al. JAMA. 2021;325(19):1965-1977. doi:10.1001/jama.2021.6238.</a:t>
            </a:r>
          </a:p>
          <a:p>
            <a:pPr lvl="0" indent="-342900" marL="342900">
              <a:buAutoNum startAt="5" type="arabicPeriod"/>
            </a:pPr>
            <a:r>
              <a:rPr/>
              <a:t>Colorectal Cancer Screening for Average-Risk Adults: 2018 Guideline Update From the American Cancer Society. Wolf AMD, Fontham ETH, Church TR, et al. CA: A Cancer Journal for Clinicians. 2018;68(4):250-281. doi:10.3322/caac.21457.</a:t>
            </a:r>
          </a:p>
          <a:p>
            <a:pPr lvl="0" indent="-342900" marL="342900">
              <a:buAutoNum startAt="5" type="arabicPeriod"/>
            </a:pPr>
            <a:r>
              <a:rPr/>
              <a:t>Colorectal Cancer. Brenner H, Kloor M, Pox CP. Lancet (London, England). 2014;383(9927):1490-1502. doi:10.1016/S0140-6736(13)61649-9.</a:t>
            </a:r>
          </a:p>
          <a:p>
            <a:pPr lvl="0" indent="-342900" marL="342900">
              <a:buAutoNum startAt="5" type="arabicPeriod"/>
            </a:pPr>
            <a:r>
              <a:rPr/>
              <a:t>Colorectal Cancer. Dekker E, Tanis PJ, Vleugels JLA, Kasi PM, Wallace MB. Lancet (London, England). 2019;394(10207):1467-1480. doi:10.1016/S0140-6736(19)32319-0.</a:t>
            </a:r>
          </a:p>
          <a:p>
            <a:pPr lvl="0" indent="-342900" marL="342900">
              <a:buAutoNum startAt="5" type="arabicPeriod"/>
            </a:pPr>
            <a:r>
              <a:rPr/>
              <a:t>ACG Clinical Guidelines: Colorectal Cancer Screening 2021. Shaukat A, Kahi CJ, Burke CA, et al. The American Journal of Gastroenterology. 2021;116(3):458-479. doi:10.14309/ajg.0000000000001122.</a:t>
            </a:r>
          </a:p>
          <a:p>
            <a:pPr lvl="0" indent="-342900" marL="342900">
              <a:buAutoNum startAt="5" type="arabicPeriod"/>
            </a:pPr>
            <a:r>
              <a:rPr/>
              <a:t>The Biology of Colorectal Cancer. Implications for Pretreatment and Follow-Up Management. Boland CR. Cancer. 1993;71(12 Suppl):4180-6. doi:10.1002/1097-0142(19930615)71:12+&lt;4180::aid-cncr2820711804&gt;3.0.co;2-g.</a:t>
            </a:r>
          </a:p>
          <a:p>
            <a:pPr lvl="0" indent="-342900" marL="342900">
              <a:buAutoNum startAt="5" type="arabicPeriod"/>
            </a:pPr>
            <a:r>
              <a:rPr/>
              <a:t>Cancer Prevention and Early Detection Facts &amp; Figures. Rick Alteri, Deana Baptiste, Emily Butler Bell, et al. American Cancer Society (2025).</a:t>
            </a:r>
          </a:p>
          <a:p>
            <a:pPr lvl="0" indent="-342900" marL="342900">
              <a:buAutoNum startAt="5" type="arabicPeriod"/>
            </a:pPr>
            <a:r>
              <a:rPr/>
              <a:t>AGA Clinical Practice Update on Risk Stratification for Colorectal Cancer Screening and Post-Polypectomy Surveillance: Expert Review. Issaka RB, Chan AT, Gupta S. Gastroenterology. 2023;165(5):1280-1291. doi:10.1053/j.gastro.2023.06.033.</a:t>
            </a:r>
          </a:p>
          <a:p>
            <a:pPr lvl="0" indent="-342900" marL="342900">
              <a:buAutoNum startAt="5" type="arabicPeriod"/>
            </a:pPr>
            <a:r>
              <a:rPr/>
              <a:t>Colorectal Cancer Screening: Updated Guidelines From the American College of Gastroenterology. de Kanter C, Dhaliwal S, Hawks M. American Family Physician. 2022;105(3):327-329.</a:t>
            </a:r>
          </a:p>
          <a:p>
            <a:pPr lvl="0" indent="-342900" marL="342900">
              <a:buAutoNum startAt="5" type="arabicPeriod"/>
            </a:pPr>
            <a:r>
              <a:rPr/>
              <a:t>Effect of Colonoscopy Screening on Risks of Colorectal Cancer and Related Death. Bretthauer M, Løberg M, Wieszczy P, et al. The New England Journal of Medicine. 2022;387(17):1547-1556. doi:10.1056/NEJMoa2208375.</a:t>
            </a:r>
          </a:p>
          <a:p>
            <a:pPr lvl="0" indent="-342900" marL="342900">
              <a:buAutoNum startAt="5" type="arabicPeriod"/>
            </a:pPr>
            <a:r>
              <a:rPr/>
              <a:t>Long-Term Effects of Colonoscopy Screening on Colorectal Cancer Incidence and Mortality: A Multicountry, Population-Based Randomised Controlled Trial. Kaminski MF, Kalager M, Løberg M, et al. Lancet (London, England). 2026;:S0140-6736(26)00508-8. doi:10.1016/S0140-6736(26)00508-8.</a:t>
            </a:r>
          </a:p>
          <a:p>
            <a:pPr lvl="0" indent="-342900" marL="342900">
              <a:buAutoNum startAt="5" type="arabicPeriod"/>
            </a:pPr>
            <a:r>
              <a:rPr/>
              <a:t>Effect of Colonoscopy Screening on Risks of Colorectal Cancer and Related Death: Instrumental Variable Estimation of Per-Protocol Effects. Shi J, Løberg M, Kalager M, et al. European Journal of Epidemiology. 2025;40(4):419-425. doi:10.1007/s10654-025-01209-w.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Colon Cancer Screening</dc:title>
  <dc:creator/>
  <cp:keywords/>
  <dcterms:created xsi:type="dcterms:W3CDTF">2026-10-30T12:18:06Z</dcterms:created>
  <dcterms:modified xsi:type="dcterms:W3CDTF">2026-10-30T12:18:06Z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