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presProps" Target="presProps.xml" /><Relationship Id="rId15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Relationship Id="rId17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3.xml" /><Relationship Id="rId3" Type="http://schemas.openxmlformats.org/officeDocument/2006/relationships/hyperlink" Target="#locally-advanced" TargetMode="External" /><Relationship Id="rId4" Type="http://schemas.openxmlformats.org/officeDocument/2006/relationships/hyperlink" Target="#metastatic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6.xml" /><Relationship Id="rId3" Type="http://schemas.openxmlformats.org/officeDocument/2006/relationships/slide" Target="slide10.xml" /><Relationship Id="rId4" Type="http://schemas.openxmlformats.org/officeDocument/2006/relationships/slide" Target="slide13.xml" /><Relationship Id="rId5" Type="http://schemas.openxmlformats.org/officeDocument/2006/relationships/slide" Target="slide10.xml" /><Relationship Id="rId7" Type="http://schemas.openxmlformats.org/officeDocument/2006/relationships/image" Target="../media/image4.png" /><Relationship Id="rId6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slide" Target="slide13.xml" /><Relationship Id="rId4" Type="http://schemas.openxmlformats.org/officeDocument/2006/relationships/slide" Target="slide13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200/JCO.2009.22.2083" TargetMode="External" /><Relationship Id="rId3" Type="http://schemas.openxmlformats.org/officeDocument/2006/relationships/hyperlink" Target="https://doi.org/10.1056/NEJMoa2032125" TargetMode="External" /><Relationship Id="rId4" Type="http://schemas.openxmlformats.org/officeDocument/2006/relationships/hyperlink" Target="https://doi.org/10.1200/EDBK_351231" TargetMode="External" /><Relationship Id="rId5" Type="http://schemas.openxmlformats.org/officeDocument/2006/relationships/hyperlink" Target="https://doi.org/10.1056/NEJMoa0808145" TargetMode="External" /><Relationship Id="rId6" Type="http://schemas.openxmlformats.org/officeDocument/2006/relationships/hyperlink" Target="https://doi.org/10.1016/S1470-2045(15)00040-6" TargetMode="External" /><Relationship Id="rId7" Type="http://schemas.openxmlformats.org/officeDocument/2006/relationships/hyperlink" Target="https://doi.org/10.1136/bmjspcare-2021-003444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Gastrograffin Challange for malignant small bowel obstruction</a:t>
            </a:r>
          </a:p>
          <a:p>
            <a:pPr lvl="0" indent="0" marL="0">
              <a:buNone/>
            </a:pPr>
            <a:r>
              <a:rPr/>
              <a:t>(Wan Bahrum et al. 2024)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GI Stromal Tumors</a:t>
            </a:r>
          </a:p>
          <a:p>
            <a:pPr lvl="0" indent="0" marL="0">
              <a:buNone/>
            </a:pPr>
            <a:r>
              <a:rPr>
                <a:hlinkClick r:id="rId2" action="ppaction://hlinksldjump"/>
              </a:rPr>
              <a:t>Carcinomatosis from Colon Cancer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Treatment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[Dyplasia]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Radiofrequency Ablation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[Superficial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Endoscopic Therapy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[Localized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T1b T2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Locally-advanced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T3 or N</a:t>
                      </a:r>
                      <a:r>
                        <a:rPr baseline="30000"/>
                        <a:t>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ChemoRT → 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4"/>
                        </a:rPr>
                        <a:t>Metastatic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Chemotherapy +/- Radiation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(Schaefer et al. 2022)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Carcinomatosis from Colon Cancer</a:t>
            </a:r>
          </a:p>
          <a:p>
            <a:pPr lvl="0" indent="0" marL="0">
              <a:buNone/>
            </a:pPr>
            <a:r>
              <a:rPr/>
              <a:t>Efficacy of HIPEC = </a:t>
            </a:r>
            <a:r>
              <a:rPr/>
              <a:t>$\function$</a:t>
            </a:r>
            <a:r>
              <a:rPr/>
              <a:t> (Histology, completeness of cytoreduction, prior surgery score (PSS), PIC) T stage of tumor is not important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HPIEC morbidity</a:t>
            </a:r>
          </a:p>
          <a:p>
            <a:pPr lvl="0" indent="0" marL="0">
              <a:buNone/>
            </a:pPr>
            <a:r>
              <a:rPr/>
              <a:t>Function of age &gt;60, ECOG, hyopalbumenia, PCI score, number of bowel resections, diagphragm involvement, distal pancreatectomy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HIPEC Exclusion</a:t>
            </a:r>
          </a:p>
          <a:p>
            <a:pPr lvl="0" indent="0" marL="0">
              <a:buNone/>
            </a:pPr>
            <a:r>
              <a:rPr/>
              <a:t>Laparoscopy prior to HIPEC. Exclusions for HIPEC:</a:t>
            </a:r>
          </a:p>
          <a:p>
            <a:pPr lvl="0"/>
            <a:r>
              <a:rPr/>
              <a:t>Large-volume carcinomatosis with PCI&gt;20</a:t>
            </a:r>
          </a:p>
          <a:p>
            <a:pPr lvl="0"/>
            <a:r>
              <a:rPr/>
              <a:t>Extensive involvement of small bowel mesentery or serosa</a:t>
            </a:r>
          </a:p>
          <a:p>
            <a:pPr lvl="0"/>
            <a:r>
              <a:rPr/>
              <a:t>Extensive porta hepatis involvement</a:t>
            </a:r>
          </a:p>
          <a:p>
            <a:pPr lvl="0"/>
            <a:r>
              <a:rPr/>
              <a:t>Long-segment ureteral involvement</a:t>
            </a:r>
          </a:p>
          <a:p>
            <a:pPr lvl="0"/>
            <a:r>
              <a:rPr/>
              <a:t>Multipe intrahepatic parenchymal liver nodules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HIPEC for T4 tumors</a:t>
            </a:r>
          </a:p>
          <a:p>
            <a:pPr lvl="0" indent="0" marL="0">
              <a:buNone/>
            </a:pPr>
            <a:r>
              <a:rPr/>
              <a:t>HIPECT4 trial shows improvement in local control with HIPEC but no change in DFS or OS ::::: columns ::: {.column width=“50%”} Origin with bowel wall stomach- small intestine - colon - esophagus :::</a:t>
            </a:r>
          </a:p>
          <a:p>
            <a:pPr lvl="0" indent="0" marL="0">
              <a:buNone/>
            </a:pPr>
            <a:r>
              <a:rPr/>
              <a:t>Tyrosine kinase gain of function mutations - KIT2 - PDGRFA3 Genetic inactivation - NF14 - succinate dehydrogenase (SDH)</a:t>
            </a:r>
          </a:p>
          <a:p>
            <a:pPr lvl="0" indent="0" marL="0">
              <a:buNone/>
            </a:pPr>
            <a:r>
              <a:rPr/>
              <a:t>:::::</a:t>
            </a:r>
          </a:p>
          <a:p>
            <a:pPr lvl="0" indent="0" marL="0">
              <a:buNone/>
            </a:pPr>
            <a:r>
              <a:rPr/>
              <a:t>(Shaheen et al. 2009)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Exenteration</a:t>
            </a:r>
          </a:p>
          <a:p>
            <a:pPr lvl="0" indent="0" marL="0">
              <a:buNone/>
            </a:pPr>
            <a:r>
              <a:rPr/>
              <a:t>Para-aortic node involvement is contraindication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Rapido Trial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Short-course 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TME +/- Chemo</a:t>
                </a:r>
              </a:p>
            </p:txBody>
          </p:sp>
        </mc:Choice>
      </mc:AlternateContent>
      <p:pic>
        <p:nvPicPr>
          <p:cNvPr descr="images/shahe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Lancet Oncol December 7, 2020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Total Neoadjuvant Therapy</a:t>
            </a:r>
          </a:p>
          <a:p>
            <a:pPr lvl="0" indent="0" marL="0">
              <a:buNone/>
            </a:pPr>
            <a:r>
              <a:rPr/>
              <a:t>Induction Chemotherapy</a:t>
            </a:r>
          </a:p>
          <a:p>
            <a:pPr lvl="0" indent="0" marL="0">
              <a:buNone/>
            </a:pPr>
            <a:r>
              <a:rPr/>
              <a:t>Consolidation Chemotherapy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KIT and PDGFR Mutations</a:t>
            </a:r>
          </a:p>
        </p:txBody>
      </p:sp>
      <p:pic>
        <p:nvPicPr>
          <p:cNvPr descr="images/kit_pdgrf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09600"/>
            <a:ext cx="51054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EORTC 22921</a:t>
                </a:r>
              </a:p>
              <a:p>
                <a:pPr lvl="0"/>
                <a:r>
                  <a:rPr/>
                  <a:t>Bossset Lancet Oncol p 184 2014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Prodige 23</a:t>
                </a:r>
              </a:p>
              <a:p>
                <a:pPr lvl="0"/>
                <a:r>
                  <a:rPr/>
                  <a:t>PHase 3 RCT n=461</a:t>
                </a:r>
              </a:p>
              <a:p>
                <a:pPr lvl="0"/>
                <a:r>
                  <a:rPr/>
                  <a:t>mFOLFIRINOX -&gt; CRT -&gt; Surgery -&gt; Adjuvant Chemo</a:t>
                </a:r>
              </a:p>
              <a:p>
                <a:pPr lvl="0" indent="0" marL="0">
                  <a:buNone/>
                </a:pPr>
                <a:r>
                  <a:rPr/>
                  <a:t>Patients with dysphagia almost always are T3 tumors (and don’t need EUS)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Symptomatic Tumors (Dysphagia)</a:t>
                </a:r>
              </a:p>
              <a:p>
                <a:pPr lvl="0" indent="0" marL="0">
                  <a:buNone/>
                </a:pPr>
                <a:r>
                  <a:rPr/>
                  <a:t>Patients with dysphagia to solids or weight loss or tumor length &gt;3cm are unlikely to have T1-2 tumors and can be initially evaluated with [PET Scan]</a:t>
                </a:r>
              </a:p>
              <a:p>
                <a:pPr lvl="0"/>
                <a:r>
                  <a:rPr/>
                  <a:t>Disease confined to the esophagus and regional nodes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2" action="ppaction://hlinksldjump"/>
                  </a:rPr>
                  <a:t>Locally-advanced</a:t>
                </a:r>
              </a:p>
              <a:p>
                <a:pPr lvl="0"/>
                <a:r>
                  <a:rPr/>
                  <a:t>Metastatic disease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3" action="ppaction://hlinksldjump"/>
                  </a:rPr>
                  <a:t>Metastatic</a:t>
                </a:r>
              </a:p>
              <a:p>
                <a:pPr lvl="0"/>
                <a:r>
                  <a:rPr/>
                  <a:t>N3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induction chemotherapy followed by chemoradiation and surgical evaluation.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ACOSOG ZZ9001</a:t>
                </a:r>
              </a:p>
              <a:p>
                <a:pPr lvl="0" indent="0" marL="0">
                  <a:buNone/>
                </a:pPr>
                <a:r>
                  <a:rPr/>
                  <a:t>GIST Tumors &gt;3cm randomized: - 1 year of imatinib 40mg - Observation</a:t>
                </a:r>
              </a:p>
              <a:p>
                <a:pPr lvl="0" indent="0" marL="0">
                  <a:buNone/>
                </a:pPr>
                <a:r>
                  <a:rPr/>
                  <a:t>Recurrence-free survival 98% vs 83% No significant difference at 6 years</a:t>
                </a:r>
              </a:p>
              <a:p>
                <a:pPr lvl="0" indent="0" marL="0">
                  <a:buNone/>
                </a:pPr>
                <a:r>
                  <a:rPr i="1"/>
                  <a:t>Imatinib may simply delay recurrences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SSG SVII</a:t>
                </a:r>
              </a:p>
              <a:p>
                <a:pPr lvl="0" indent="0" marL="0">
                  <a:buNone/>
                </a:pPr>
                <a:r>
                  <a:rPr/>
                  <a:t>High-risk GIST randomized: - 1 year of imatinib 400mg - 3 year of imatinib 400mg</a:t>
                </a:r>
              </a:p>
              <a:p>
                <a:pPr lvl="0" indent="0" marL="0">
                  <a:buNone/>
                </a:pPr>
                <a:r>
                  <a:rPr/>
                  <a:t>5-year Recurrence-free survival 48% vs 66% 5-year Overall Survival 82% vs 92%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Mutational Testing</a:t>
                </a:r>
              </a:p>
              <a:p>
                <a:pPr lvl="0" indent="0" marL="0">
                  <a:buNone/>
                </a:pPr>
                <a:r>
                  <a:rPr/>
                  <a:t>Genetic mutations can predict respoinse to imatinib </a:t>
                </a:r>
                <a:r>
                  <a:rPr baseline="30000">
                    <a:hlinkClick r:id="rId4" action="ppaction://hlinksldjump"/>
                  </a:rPr>
                  <a:t>1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Locally-advanced</a:t>
                </a:r>
              </a:p>
              <a:p>
                <a:pPr lvl="0" indent="0" marL="0">
                  <a:buNone/>
                </a:pPr>
                <a:r>
                  <a:rPr/>
                  <a:t>For patients with locally-advanced esophageal cancer, improved survival with adjunctive therapy. There are two options:</a:t>
                </a:r>
              </a:p>
              <a:p>
                <a:pPr lvl="0"/>
                <a:r>
                  <a:rPr/>
                  <a:t>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([CROSS Trial])</a:t>
                </a:r>
              </a:p>
              <a:p>
                <a:pPr lvl="0"/>
                <a:r>
                  <a:rPr/>
                  <a:t>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</a:t>
                </a:r>
                <a:r>
                  <a:rPr>
                    <a:hlinkClick r:id="rId5" action="ppaction://hlinksldjump"/>
                  </a:rPr>
                  <a:t>EsoPEC Trial</a:t>
                </a:r>
                <a:r>
                  <a:rPr/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Positive Margins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Gronchi JAMA Surg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Imatinib 1yr vs 3 yr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Joensuu JAMA Oncology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Wild-Type GIST</a:t>
                </a:r>
              </a:p>
              <a:p>
                <a:pPr lvl="0"/>
                <a:r>
                  <a:rPr/>
                  <a:t>SDH-Deficient</a:t>
                </a:r>
              </a:p>
              <a:p>
                <a:pPr lvl="1"/>
                <a:r>
                  <a:rPr/>
                  <a:t>SDHx mutation</a:t>
                </a:r>
              </a:p>
              <a:p>
                <a:pPr lvl="1"/>
                <a:r>
                  <a:rPr/>
                  <a:t>SDH wild-type</a:t>
                </a:r>
              </a:p>
              <a:p>
                <a:pPr lvl="1"/>
                <a:r>
                  <a:rPr/>
                  <a:t>Associated with Carney-Stratakis syndrome</a:t>
                </a:r>
              </a:p>
              <a:p>
                <a:pPr lvl="0"/>
                <a:r>
                  <a:rPr/>
                  <a:t>No SDH Deficiency</a:t>
                </a:r>
              </a:p>
              <a:p>
                <a:pPr lvl="1"/>
                <a:r>
                  <a:rPr/>
                  <a:t>NF1-GIST</a:t>
                </a:r>
              </a:p>
              <a:p>
                <a:pPr lvl="1"/>
                <a:r>
                  <a:rPr/>
                  <a:t>Sporadic Wild-Type GIST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NF1-associated GIST</a:t>
                </a:r>
              </a:p>
              <a:p>
                <a:pPr lvl="0"/>
                <a:r>
                  <a:rPr/>
                  <a:t>Multicentric (33%)</a:t>
                </a:r>
              </a:p>
              <a:p>
                <a:pPr lvl="0"/>
                <a:r>
                  <a:rPr/>
                  <a:t>Median age 46</a:t>
                </a:r>
              </a:p>
              <a:p>
                <a:pPr lvl="0"/>
                <a:r>
                  <a:rPr/>
                  <a:t>Small bowel &gt;&gt; Duodenum &gt;&gt; Stomach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Recurrence Risk</a:t>
                </a:r>
              </a:p>
            </p:txBody>
          </p:sp>
        </mc:Choice>
      </mc:AlternateContent>
      <p:pic>
        <p:nvPicPr>
          <p:cNvPr descr="images/shapiro_1090_fig2a.png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3873500" y="203200"/>
            <a:ext cx="4495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Joensuu Lancet March 2012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Survival by Histology</a:t>
            </a:r>
          </a:p>
        </p:txBody>
      </p:sp>
      <p:pic>
        <p:nvPicPr>
          <p:cNvPr descr="images/shapiro_1090_fig2b.png" id="0" name="Picture 1"/>
          <p:cNvPicPr>
            <a:picLocks noGrp="1"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3898900" y="203200"/>
            <a:ext cx="4432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Miettinen Lasota Seminars in Diagnostic Pathology 2006:23:70-83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Pathologic Response</a:t>
            </a:r>
          </a:p>
          <a:p>
            <a:pPr lvl="0" indent="0" marL="0">
              <a:buNone/>
            </a:pPr>
            <a:r>
              <a:rPr/>
              <a:t>pCR seen in 23% of patients with adenocarcinoma</a:t>
            </a:r>
          </a:p>
          <a:p>
            <a:pPr lvl="0" indent="0" marL="0">
              <a:buNone/>
            </a:pPr>
            <a:r>
              <a:rPr/>
              <a:t>pCR seen in 40% of patients with squamous cell carcinoma</a:t>
            </a:r>
          </a:p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Sites of Failure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Sites of failure over time</a:t>
            </a:r>
          </a:p>
          <a:p>
            <a:pPr lvl="0" indent="0" marL="0">
              <a:buNone/>
            </a:pPr>
            <a:r>
              <a:rPr/>
              <a:t>ChemoRT + Surgery </a:t>
            </a:r>
            <a:r>
              <a:rPr i="1"/>
              <a:t>vs</a:t>
            </a:r>
            <a:r>
              <a:rPr/>
              <a:t> Surgery</a:t>
            </a:r>
          </a:p>
          <a:p>
            <a:pPr lvl="0" indent="0" marL="0">
              <a:buNone/>
            </a:pPr>
            <a:r>
              <a:rPr/>
              <a:t>ChemoRT appears to reduce risk of local or local+distant failure, but not isolated distant failure</a:t>
            </a:r>
          </a:p>
        </p:txBody>
      </p:sp>
      <p:pic>
        <p:nvPicPr>
          <p:cNvPr descr="images/ey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43100"/>
            <a:ext cx="4038600" cy="190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Checkmate 577 Trial</a:t>
            </a:r>
          </a:p>
          <a:p>
            <a:pPr lvl="0" indent="0" marL="0">
              <a:buNone/>
            </a:pPr>
            <a:r>
              <a:rPr/>
              <a:t>Immunotherapy with nivolumab as adjuvant therapy after CROSS regimen for patients with residual disease</a:t>
            </a:r>
          </a:p>
          <a:p>
            <a:pPr lvl="0" indent="0" marL="0">
              <a:buNone/>
            </a:pPr>
            <a:r>
              <a:rPr/>
              <a:t>(Kelly et al. 2021)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Nivolumab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PD-L1 agonist ligand</a:t>
            </a:r>
          </a:p>
          <a:p>
            <a:pPr lvl="0" indent="0" marL="0">
              <a:buNone/>
            </a:pPr>
            <a:r>
              <a:rPr/>
              <a:t>Interferes with tumor cell down-regulation of T cells</a:t>
            </a:r>
          </a:p>
          <a:p>
            <a:pPr lvl="0" indent="0" marL="0">
              <a:buNone/>
            </a:pPr>
            <a:r>
              <a:rPr/>
              <a:t>Active against stage IV esophageal cancer</a:t>
            </a:r>
          </a:p>
        </p:txBody>
      </p:sp>
      <p:pic>
        <p:nvPicPr>
          <p:cNvPr descr="images/niv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62500" y="1193800"/>
            <a:ext cx="3810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Nivolumab mechanism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Chekmate 577 Trial</a:t>
                </a:r>
              </a:p>
              <a:p>
                <a:pPr lvl="0" indent="0" marL="0">
                  <a:buNone/>
                </a:pPr>
                <a:r>
                  <a:rPr/>
                  <a:t>EsoCA patients who received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with residual disease (not pCR)</a:t>
                </a:r>
              </a:p>
              <a:p>
                <a:pPr lvl="0" indent="0" marL="0">
                  <a:buNone/>
                </a:pPr>
                <a:r>
                  <a:rPr/>
                  <a:t>Randomized to one year of immunotherapy (nivolumab) vs Observation</a:t>
                </a:r>
              </a:p>
              <a:p>
                <a:pPr lvl="0" indent="0" marL="0">
                  <a:buNone/>
                </a:pPr>
                <a:r>
                  <a:rPr/>
                  <a:t>Adjuvant nivolumab group had better survival</a:t>
                </a:r>
              </a:p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Checkmate 577 Trial</a:t>
                </a:r>
              </a:p>
            </p:txBody>
          </p:sp>
        </mc:Choice>
      </mc:AlternateContent>
      <p:pic>
        <p:nvPicPr>
          <p:cNvPr descr="images/kelly_1191_fig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79500"/>
            <a:ext cx="51054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Adjuvant Nivolumab vs Observation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Neoadjuvant Chemo for EsoCA</a:t>
                </a:r>
              </a:p>
              <a:p>
                <a:pPr lvl="0"/>
                <a:r>
                  <a:rPr/>
                  <a:t>MAGIC trial (gastric): ECF</a:t>
                </a:r>
                <a:r>
                  <a:rPr baseline="30000">
                    <a:hlinkClick r:id="rId3" action="ppaction://hlinksldjump"/>
                  </a:rPr>
                  <a:t>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OEO2 Trial: (esophageal)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FLOT (gastric): FLOT</a:t>
                </a:r>
                <a:r>
                  <a:rPr baseline="30000">
                    <a:hlinkClick r:id="rId4" action="ppaction://hlinksldjump"/>
                  </a:rPr>
                  <a:t>3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</a:t>
                </a:r>
                <a:r>
                  <a:rPr i="1"/>
                  <a:t>vs</a:t>
                </a:r>
                <a:r>
                  <a:rPr/>
                  <a:t> ECF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</a:t>
                </a:r>
              </a:p>
              <a:p>
                <a:pPr lvl="0"/>
                <a:r>
                  <a:rPr/>
                  <a:t>EsoPEC: (esophageal):FLOT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FLOT </a:t>
                </a:r>
                <a:r>
                  <a:rPr i="1"/>
                  <a:t>vs</a:t>
                </a:r>
                <a:r>
                  <a:rPr/>
                  <a:t>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(CROSS)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OEO2 Clinical Trial</a:t>
                </a:r>
              </a:p>
              <a:p>
                <a:pPr lvl="0"/>
                <a:r>
                  <a:rPr/>
                  <a:t>802 Esophageal adenocarcinoma and squamous cell</a:t>
                </a:r>
              </a:p>
              <a:p>
                <a:pPr lvl="0"/>
                <a:r>
                  <a:rPr/>
                  <a:t>Randomized to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 alone</a:t>
                </a:r>
              </a:p>
              <a:p>
                <a:pPr lvl="0"/>
                <a:r>
                  <a:rPr/>
                  <a:t>Chemotherapy with ECF (Epirubicin, Cisplatin, 5FU)</a:t>
                </a:r>
              </a:p>
              <a:p>
                <a:pPr lvl="0"/>
                <a:r>
                  <a:rPr/>
                  <a:t>5-year survival 23% for chemo+surgery vs 17% for surgery (HR 0.84 p=0.03)</a:t>
                </a:r>
              </a:p>
              <a:p>
                <a:pPr lvl="0" indent="0" marL="0">
                  <a:buNone/>
                </a:pPr>
                <a:r>
                  <a:rPr/>
                  <a:t>(Allum et al. 2009)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EsoPEC Trial</a:t>
                </a:r>
              </a:p>
              <a:p>
                <a:pPr lvl="0"/>
                <a:r>
                  <a:rPr/>
                  <a:t>Esophageal cancer</a:t>
                </a:r>
              </a:p>
              <a:p>
                <a:pPr lvl="0"/>
                <a:r>
                  <a:rPr/>
                  <a:t>Randomized to CROSS vs FLOT</a:t>
                </a:r>
              </a:p>
              <a:p>
                <a:pPr lvl="0"/>
                <a:r>
                  <a:rPr/>
                  <a:t>Better survival with FLOT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Metastatic</a:t>
                </a:r>
              </a:p>
              <a:p>
                <a:pPr lvl="0" indent="0" marL="0">
                  <a:buNone/>
                </a:pPr>
                <a:r>
                  <a:rPr/>
                  <a:t>FOLFOX is first-line systemic therapy for metastatic GI cancers</a:t>
                </a:r>
              </a:p>
              <a:p>
                <a:pPr lvl="0"/>
                <a:r>
                  <a:rPr/>
                  <a:t>Dose-limiting toxicity is frequently peripheral neuropathy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Orientation Manual</a:t>
            </a:r>
          </a:p>
        </p:txBody>
      </p:sp>
      <p:pic>
        <p:nvPicPr>
          <p:cNvPr descr="aHR0cHM6Ly9naXN1cmdvbmMuZ2l0aHViLmlvL29yaWVudGF0aW9uMjU1MjU1MjU1MHFyY29kZTAwMDI1NTAwMDI1NTQuMDEwMA==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Allum, William H., Sally P. Stenning, John Bancewicz, Peter I. Clark, and Ruth E. Langley. 2009. “Long-Term Results of a Randomized Trial of Surgery with or Without Preoperative Chemotherapy in Esophageal Cancer.” </a:t>
            </a:r>
            <a:r>
              <a:rPr i="1"/>
              <a:t>Journal of Clinical Oncology: Official Journal of the American Society of Clinical Oncology</a:t>
            </a:r>
            <a:r>
              <a:rPr/>
              <a:t> 27 (30): 5062–67. </a:t>
            </a:r>
            <a:r>
              <a:rPr>
                <a:hlinkClick r:id="rId2"/>
              </a:rPr>
              <a:t>https://doi.org/10.1200/JCO.2009.22.2083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Kelly, Ronan J., Jaffer A. Ajani, Jaroslaw Kuzdzal, et al. 2021. “Adjuvant Nivolumab in Resected Esophageal or Gastroesophageal Junction Cancer.” </a:t>
            </a:r>
            <a:r>
              <a:rPr i="1"/>
              <a:t>The New England Journal of Medicine</a:t>
            </a:r>
            <a:r>
              <a:rPr/>
              <a:t> 384 (13): 1191–203. </a:t>
            </a:r>
            <a:r>
              <a:rPr>
                <a:hlinkClick r:id="rId3"/>
              </a:rPr>
              <a:t>https://doi.org/10.1056/NEJMoa2032125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Schaefer, Inga-Marie, Ronald P. DeMatteo, and César Serrano. 2022. “The GIST of Advances in Treatment of Advanced Gastrointestinal Stromal Tumor.” </a:t>
            </a:r>
            <a:r>
              <a:rPr i="1"/>
              <a:t>American Society of Clinical Oncology Educational Book. American Society of Clinical Oncology. Annual Meeting</a:t>
            </a:r>
            <a:r>
              <a:rPr/>
              <a:t> 42 (April): 1–15. </a:t>
            </a:r>
            <a:r>
              <a:rPr>
                <a:hlinkClick r:id="rId4"/>
              </a:rPr>
              <a:t>https://doi.org/10.1200/EDBK_351231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Shaheen, Nicholas J., Prateek Sharma, Bergein F. Overholt, et al. 2009. “Radiofrequency Ablation in Barrett’s Esophagus with Dysplasia.” </a:t>
            </a:r>
            <a:r>
              <a:rPr i="1"/>
              <a:t>The New England Journal of Medicine</a:t>
            </a:r>
            <a:r>
              <a:rPr/>
              <a:t> 360 (22): 2277–88. </a:t>
            </a:r>
            <a:r>
              <a:rPr>
                <a:hlinkClick r:id="rId5"/>
              </a:rPr>
              <a:t>https://doi.org/10.1056/NEJMoa0808145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Shapiro, Joel, J. Jan B. van Lanschot, Maarten C. C. M. Hulshof, et al. 2015. “Neoadjuvant Chemoradiotherapy Plus Surgery Versus Surgery Alone for Oesophageal or Junctional Cancer (CROSS): Long-Term Results of a Randomised Controlled Trial.” </a:t>
            </a:r>
            <a:r>
              <a:rPr i="1"/>
              <a:t>The Lancet. Oncology</a:t>
            </a:r>
            <a:r>
              <a:rPr/>
              <a:t> 16 (9): 1090–98. </a:t>
            </a:r>
            <a:r>
              <a:rPr>
                <a:hlinkClick r:id="rId6"/>
              </a:rPr>
              <a:t>https://doi.org/10.1016/S1470-2045(15)00040-6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Wan Bahrum, Wan Fadzrul Izuan Bin, Janet Hardy, Karyn Foster, and Phillip Good. 2024. “Oral Water-Soluble Contrast for Malignant Bowel Obstruction: Open Label Pilot Study.” </a:t>
            </a:r>
            <a:r>
              <a:rPr i="1"/>
              <a:t>BMJ Supportive &amp; Palliative Care</a:t>
            </a:r>
            <a:r>
              <a:rPr/>
              <a:t> 13 (e3): e794–97. </a:t>
            </a:r>
            <a:r>
              <a:rPr>
                <a:hlinkClick r:id="rId7"/>
              </a:rPr>
              <a:t>https://doi.org/10.1136/bmjspcare-2021-003444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Meheran JCO 2017</a:t>
            </a:r>
          </a:p>
          <a:p>
            <a:pPr lvl="0" indent="0" marL="0">
              <a:buNone/>
            </a:pPr>
            <a:r>
              <a:rPr sz="1800"/>
              <a:t>2. Epirubicin, Cisplatin, 5FU</a:t>
            </a:r>
          </a:p>
          <a:p>
            <a:pPr lvl="0" indent="0" marL="0">
              <a:buNone/>
            </a:pPr>
            <a:r>
              <a:rPr sz="1800"/>
              <a:t>3. 5FU, Leuvocorin, Oxaliplatin, Decetaxol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</dc:title>
  <dc:creator/>
  <cp:keywords/>
  <dcterms:created xsi:type="dcterms:W3CDTF">2026-10-09T05:32:47Z</dcterms:created>
  <dcterms:modified xsi:type="dcterms:W3CDTF">2026-10-09T05:32:47Z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