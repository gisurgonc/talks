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presProps" Target="presProps.xml" /><Relationship Id="rId15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Relationship Id="rId17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6.xml" /><Relationship Id="rId3" Type="http://schemas.openxmlformats.org/officeDocument/2006/relationships/slide" Target="slide10.xml" /><Relationship Id="rId4" Type="http://schemas.openxmlformats.org/officeDocument/2006/relationships/slide" Target="slide13.xml" /><Relationship Id="rId5" Type="http://schemas.openxmlformats.org/officeDocument/2006/relationships/slide" Target="slide10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3.xml" /><Relationship Id="rId4" Type="http://schemas.openxmlformats.org/officeDocument/2006/relationships/slide" Target="slide13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Carcinomatosis from Colon Cancer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Carcinomatosis from Colon Cancer</a:t>
            </a:r>
          </a:p>
          <a:p>
            <a:pPr lvl="0" indent="0" marL="0">
              <a:buNone/>
            </a:pPr>
            <a:r>
              <a:rPr/>
              <a:t>Efficacy of HIPEC = </a:t>
            </a:r>
            <a:r>
              <a:rPr/>
              <a:t>$\function$</a:t>
            </a:r>
            <a:r>
              <a:rPr/>
              <a:t> (Histology, completeness of cytoreduction, prior surgery score (PSS), PIC) T stage of tumor is not important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HPIEC morbidity</a:t>
            </a:r>
          </a:p>
          <a:p>
            <a:pPr lvl="0" indent="0" marL="0">
              <a:buNone/>
            </a:pPr>
            <a:r>
              <a:rPr/>
              <a:t>Function of age &gt;60, ECOG, hyopalbumenia, PCI score, number of bowel resections, diagphragm involvement, distal pancreatectomy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Exclusion</a:t>
            </a:r>
          </a:p>
          <a:p>
            <a:pPr lvl="0" indent="0" marL="0">
              <a:buNone/>
            </a:pPr>
            <a:r>
              <a:rPr/>
              <a:t>Laparoscopy prior to HIPEC. Exclusions for HIPEC:</a:t>
            </a:r>
          </a:p>
          <a:p>
            <a:pPr lvl="0"/>
            <a:r>
              <a:rPr/>
              <a:t>Large-volume carcinomatosis with PCI&gt;20</a:t>
            </a:r>
          </a:p>
          <a:p>
            <a:pPr lvl="0"/>
            <a:r>
              <a:rPr/>
              <a:t>Extensive involvement of small bowel mesentery or serosa</a:t>
            </a:r>
          </a:p>
          <a:p>
            <a:pPr lvl="0"/>
            <a:r>
              <a:rPr/>
              <a:t>Extensive porta hepatis involvement</a:t>
            </a:r>
          </a:p>
          <a:p>
            <a:pPr lvl="0"/>
            <a:r>
              <a:rPr/>
              <a:t>Long-segment ureteral involvement</a:t>
            </a:r>
          </a:p>
          <a:p>
            <a:pPr lvl="0"/>
            <a:r>
              <a:rPr/>
              <a:t>Multipe intrahepatic parenchymal liver nodules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HIPEC for T4 tumors</a:t>
            </a:r>
          </a:p>
          <a:p>
            <a:pPr lvl="0" indent="0" marL="0">
              <a:buNone/>
            </a:pPr>
            <a:r>
              <a:rPr/>
              <a:t>HIPECT4 trial shows improvement in local control with HIPEC but no change in DFS or OS ::::: columns ::: {.column width=“50%”} Origin with bowel wall stomach- small intestine - colon - esophagus :::</a:t>
            </a:r>
          </a:p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Exenteration</a:t>
            </a:r>
          </a:p>
          <a:p>
            <a:pPr lvl="0" indent="0" marL="0">
              <a:buNone/>
            </a:pPr>
            <a:r>
              <a:rPr/>
              <a:t>Para-aortic node involvement is contraindication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2026-07-21T13:00:35Z</dcterms:created>
  <dcterms:modified xsi:type="dcterms:W3CDTF">2026-07-21T13:00:35Z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